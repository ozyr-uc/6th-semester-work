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0897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04405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560634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468316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89081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756065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8922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7775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1248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0847BF-B3B1-F29C-1950-A58B722BEB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0BB035-CC3C-4121-E06E-3D0EFACD8A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FDD855-7137-909A-6B9D-7F1DAA277B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09857E-350E-2326-8A38-94A1CFB9E0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1417A7-9151-F566-0C2E-8F71080528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80C2F5-1E24-F50D-EC2F-404E151DD6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EF00B2-7435-CB85-FB22-5CB0D7EEAD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785E2-628D-67EC-E4AC-5871B14710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7FE3C-4BEF-D441-1FD6-A975C46A37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88150-92D2-1BCA-ED12-209DF234A7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6031B6-2BBC-A33C-6A21-E1417A32C0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01459-1FDF-13E1-D98C-2A7FB8F455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EAB9E-F2F2-F868-1548-E23491FEFA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818C1-CE97-3A25-C2CA-B01CDFB3CD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/>
            </a:gs>
            <a:gs pos="100000">
              <a:schemeClr val="tx2">
                <a:lumMod val="7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1136290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6" y="9144"/>
            <a:ext cx="12198094" cy="6848854"/>
          </a:xfrm>
          <a:prstGeom prst="rect">
            <a:avLst/>
          </a:prstGeom>
        </p:spPr>
      </p:pic>
      <p:sp>
        <p:nvSpPr>
          <p:cNvPr id="158317970" name=""/>
          <p:cNvSpPr/>
          <p:nvPr/>
        </p:nvSpPr>
        <p:spPr bwMode="auto">
          <a:xfrm rot="0" flipH="0" flipV="0">
            <a:off x="6079" y="4051"/>
            <a:ext cx="12179838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5855895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72070328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602734"/>
            <a:ext cx="9144000" cy="1655760"/>
          </a:xfrm>
        </p:spPr>
        <p:txBody>
          <a:bodyPr vertOverflow="overflow" horzOverflow="overflow" vert="horz" wrap="square" lIns="91440" tIns="274318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037923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979106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2983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426538180" name="Rectangle 640957806"/>
          <p:cNvSpPr/>
          <p:nvPr/>
        </p:nvSpPr>
        <p:spPr bwMode="auto">
          <a:xfrm rot="0" flipH="0" flipV="0">
            <a:off x="3570597" y="3530036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bg1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728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105156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60765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585255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469328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7759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371728849" name="Rectangle 640957806"/>
          <p:cNvSpPr/>
          <p:nvPr/>
        </p:nvSpPr>
        <p:spPr bwMode="auto">
          <a:xfrm rot="0" flipH="0" flipV="0">
            <a:off x="4703774" y="1486702"/>
            <a:ext cx="277643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2157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105156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5584334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99378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14398F-3795-7DE0-858E-3925D44B3378}" type="datetimeFigureOut">
              <a:rPr/>
              <a:t/>
            </a:fld>
            <a:endParaRPr/>
          </a:p>
        </p:txBody>
      </p:sp>
      <p:sp>
        <p:nvSpPr>
          <p:cNvPr id="6346393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864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9411B4-B34A-E1DB-16D9-0D265777C9EB}" type="slidenum">
              <a:rPr/>
              <a:t/>
            </a:fld>
            <a:endParaRPr/>
          </a:p>
        </p:txBody>
      </p:sp>
      <p:sp>
        <p:nvSpPr>
          <p:cNvPr id="40482256" name="Rectangle 640957806"/>
          <p:cNvSpPr/>
          <p:nvPr/>
        </p:nvSpPr>
        <p:spPr bwMode="auto">
          <a:xfrm rot="0" flipH="0" flipV="0">
            <a:off x="838197" y="1486702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000">
              <a:schemeClr val="tx2"/>
            </a:gs>
            <a:gs pos="84000">
              <a:schemeClr val="tx2">
                <a:lumMod val="75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9296347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893132236" name="Title 1"/>
          <p:cNvSpPr>
            <a:spLocks noGrp="1"/>
          </p:cNvSpPr>
          <p:nvPr>
            <p:ph type="title"/>
          </p:nvPr>
        </p:nvSpPr>
        <p:spPr bwMode="auto">
          <a:xfrm>
            <a:off x="831848" y="1399140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576133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4278863"/>
            <a:ext cx="105156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54801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345880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2903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091291234" name="Rectangle 640957806"/>
          <p:cNvSpPr/>
          <p:nvPr/>
        </p:nvSpPr>
        <p:spPr bwMode="auto">
          <a:xfrm rot="0" flipH="0" flipV="0">
            <a:off x="-10884" y="6017640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80000">
              <a:srgbClr val="FFFFFF">
                <a:alpha val="44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5327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79178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306345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567604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529737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5581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977298905" name="Rectangle 640957806"/>
          <p:cNvSpPr/>
          <p:nvPr/>
        </p:nvSpPr>
        <p:spPr bwMode="auto">
          <a:xfrm rot="0" flipH="0" flipV="0">
            <a:off x="2070" y="6121172"/>
            <a:ext cx="12213769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50000">
              <a:srgbClr val="FFFFFF">
                <a:alpha val="44999"/>
              </a:srgb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98160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829788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6" y="1690686"/>
            <a:ext cx="5157784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356387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6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95284893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8" y="1690686"/>
            <a:ext cx="5183186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943702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99025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108044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33724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615665015" name="Rectangle 640957806"/>
          <p:cNvSpPr/>
          <p:nvPr/>
        </p:nvSpPr>
        <p:spPr bwMode="auto">
          <a:xfrm rot="0" flipH="0" flipV="0">
            <a:off x="2330779" y="1690686"/>
            <a:ext cx="7530436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75000"/>
              </a:schemeClr>
            </a:gs>
            <a:gs pos="100000">
              <a:schemeClr val="tx2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073225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246532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035536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456478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542969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4862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131622100" name="Rectangle 640957806"/>
          <p:cNvSpPr/>
          <p:nvPr/>
        </p:nvSpPr>
        <p:spPr bwMode="auto">
          <a:xfrm rot="0" flipH="0" flipV="0">
            <a:off x="838197" y="1984248"/>
            <a:ext cx="393382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tx2"/>
            </a:gs>
            <a:gs pos="100000">
              <a:schemeClr val="tx2">
                <a:lumMod val="75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5621643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0" y="8103"/>
            <a:ext cx="12216844" cy="6858000"/>
          </a:xfrm>
          <a:prstGeom prst="rect">
            <a:avLst/>
          </a:prstGeom>
        </p:spPr>
      </p:pic>
      <p:sp>
        <p:nvSpPr>
          <p:cNvPr id="1160553345" name="Title 1"/>
          <p:cNvSpPr>
            <a:spLocks noGrp="1"/>
          </p:cNvSpPr>
          <p:nvPr>
            <p:ph type="title"/>
          </p:nvPr>
        </p:nvSpPr>
        <p:spPr bwMode="auto">
          <a:xfrm>
            <a:off x="838197" y="2455619"/>
            <a:ext cx="10515600" cy="132556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240888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6065370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01611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8234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671172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1149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08186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19413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286761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679065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99903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7334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989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916987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12982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934134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274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41203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620535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52573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819797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196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rgbClr val="FFFFFF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54123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788237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192493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317010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79089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1586" name="Title 1"/>
          <p:cNvSpPr>
            <a:spLocks noGrp="1"/>
          </p:cNvSpPr>
          <p:nvPr>
            <p:ph type="ctrTitle"/>
          </p:nvPr>
        </p:nvSpPr>
        <p:spPr bwMode="auto">
          <a:xfrm rot="0">
            <a:off x="1586119" y="1041399"/>
            <a:ext cx="9144000" cy="2387599"/>
          </a:xfrm>
        </p:spPr>
        <p:txBody>
          <a:bodyPr/>
          <a:lstStyle/>
          <a:p>
            <a:pPr algn="ctr">
              <a:defRPr/>
            </a:pPr>
            <a:r>
              <a:rPr lang="en-US"/>
              <a:t>Spotify and Cloud Computing</a:t>
            </a:r>
            <a:endParaRPr lang="en-US"/>
          </a:p>
        </p:txBody>
      </p:sp>
      <p:sp>
        <p:nvSpPr>
          <p:cNvPr id="115228954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7048" y="3706267"/>
            <a:ext cx="9144000" cy="2712754"/>
          </a:xfrm>
        </p:spPr>
        <p:txBody>
          <a:bodyPr vertOverflow="overflow" horzOverflow="overflow" vert="horz" wrap="square" lIns="91440" tIns="274318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en-US"/>
              <a:t>Haroon Ahmad - 914</a:t>
            </a:r>
            <a:endParaRPr lang="en-US"/>
          </a:p>
          <a:p>
            <a:pPr algn="l">
              <a:defRPr/>
            </a:pPr>
            <a:r>
              <a:rPr lang="en-US"/>
              <a:t>Fayaz Ahmad - 924</a:t>
            </a:r>
            <a:endParaRPr lang="en-US"/>
          </a:p>
          <a:p>
            <a:pPr algn="l">
              <a:defRPr/>
            </a:pPr>
            <a:r>
              <a:rPr lang="en-US"/>
              <a:t>Muhammad Talha - 934</a:t>
            </a:r>
            <a:endParaRPr lang="en-US"/>
          </a:p>
          <a:p>
            <a:pPr algn="l">
              <a:defRPr/>
            </a:pPr>
            <a:r>
              <a:rPr lang="en-US"/>
              <a:t>Abdul Wahab - 928</a:t>
            </a:r>
            <a:endParaRPr lang="en-US"/>
          </a:p>
          <a:p>
            <a:pPr algn="l">
              <a:defRPr/>
            </a:pPr>
            <a:r>
              <a:rPr lang="en-US"/>
              <a:t>Uzair Ahmad - 913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578890" name="Title 1"/>
          <p:cNvSpPr>
            <a:spLocks noGrp="1"/>
          </p:cNvSpPr>
          <p:nvPr>
            <p:ph type="title"/>
          </p:nvPr>
        </p:nvSpPr>
        <p:spPr bwMode="auto">
          <a:xfrm>
            <a:off x="831848" y="881476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What is Spotify?</a:t>
            </a:r>
            <a:endParaRPr/>
          </a:p>
        </p:txBody>
      </p:sp>
      <p:sp>
        <p:nvSpPr>
          <p:cNvPr id="158183456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3734213"/>
            <a:ext cx="10515600" cy="2132771"/>
          </a:xfrm>
        </p:spPr>
        <p:txBody>
          <a:bodyPr/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Music and podcast streaming platform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Available globally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Millions of users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Mobile + desktop + web support</a:t>
            </a:r>
            <a:endParaRPr/>
          </a:p>
        </p:txBody>
      </p:sp>
      <p:pic>
        <p:nvPicPr>
          <p:cNvPr id="4471458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58369" y="295297"/>
            <a:ext cx="2566456" cy="5382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886981" name="Title 1"/>
          <p:cNvSpPr>
            <a:spLocks noGrp="1"/>
          </p:cNvSpPr>
          <p:nvPr>
            <p:ph type="title"/>
          </p:nvPr>
        </p:nvSpPr>
        <p:spPr bwMode="auto">
          <a:xfrm>
            <a:off x="831848" y="840063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Why Spotify Needs Cloud Computing</a:t>
            </a:r>
            <a:endParaRPr/>
          </a:p>
        </p:txBody>
      </p:sp>
      <p:sp>
        <p:nvSpPr>
          <p:cNvPr id="119108937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14675" y="3692800"/>
            <a:ext cx="10515600" cy="2132771"/>
          </a:xfrm>
        </p:spPr>
        <p:txBody>
          <a:bodyPr/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Huge number of users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Music streaming requires fast servers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Data storage for songs and playlists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Global accessibility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631033" name="Title 1"/>
          <p:cNvSpPr>
            <a:spLocks noGrp="1"/>
          </p:cNvSpPr>
          <p:nvPr>
            <p:ph type="title"/>
          </p:nvPr>
        </p:nvSpPr>
        <p:spPr bwMode="auto">
          <a:xfrm>
            <a:off x="831848" y="819357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Cloud Service Models Used</a:t>
            </a:r>
            <a:endParaRPr/>
          </a:p>
        </p:txBody>
      </p:sp>
      <p:sp>
        <p:nvSpPr>
          <p:cNvPr id="153476743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672094"/>
            <a:ext cx="10515600" cy="1954695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SaaS – users stream music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PaaS – developers build services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Iaas – cloud servers/storage/networking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Hosted on GCP – Google Cloud Platform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429080" name="Title 1"/>
          <p:cNvSpPr>
            <a:spLocks noGrp="1"/>
          </p:cNvSpPr>
          <p:nvPr>
            <p:ph type="title"/>
          </p:nvPr>
        </p:nvSpPr>
        <p:spPr bwMode="auto">
          <a:xfrm>
            <a:off x="838199" y="798650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Basic Cloud Architecture</a:t>
            </a:r>
            <a:endParaRPr/>
          </a:p>
        </p:txBody>
      </p:sp>
      <p:sp>
        <p:nvSpPr>
          <p:cNvPr id="33966239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3651387"/>
            <a:ext cx="10515600" cy="2567608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Users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Spotify App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Cloud Servers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Databases</a:t>
            </a:r>
            <a:endParaRPr/>
          </a:p>
        </p:txBody>
      </p:sp>
      <p:pic>
        <p:nvPicPr>
          <p:cNvPr id="669115686" name=""/>
          <p:cNvPicPr>
            <a:picLocks noChangeAspect="1"/>
          </p:cNvPicPr>
          <p:nvPr/>
        </p:nvPicPr>
        <p:blipFill rotWithShape="1">
          <a:blip r:embed="rId3">
            <a:alphaModFix amt="89999"/>
          </a:blip>
          <a:stretch/>
        </p:blipFill>
        <p:spPr bwMode="auto">
          <a:xfrm flipH="0" flipV="0">
            <a:off x="7280338" y="2712554"/>
            <a:ext cx="3726626" cy="294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63274" name="Title 1"/>
          <p:cNvSpPr>
            <a:spLocks noGrp="1"/>
          </p:cNvSpPr>
          <p:nvPr>
            <p:ph type="title"/>
          </p:nvPr>
        </p:nvSpPr>
        <p:spPr bwMode="auto">
          <a:xfrm>
            <a:off x="831848" y="777944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Key Cloud Services Used</a:t>
            </a:r>
            <a:endParaRPr/>
          </a:p>
        </p:txBody>
      </p:sp>
      <p:sp>
        <p:nvSpPr>
          <p:cNvPr id="42046978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3630681"/>
            <a:ext cx="10515600" cy="2140157"/>
          </a:xfrm>
        </p:spPr>
        <p:txBody>
          <a:bodyPr/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Cloud storage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Content Delivery Network (CDN)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Databases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Authentication services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196264" name="Title 1"/>
          <p:cNvSpPr>
            <a:spLocks noGrp="1"/>
          </p:cNvSpPr>
          <p:nvPr>
            <p:ph type="title"/>
          </p:nvPr>
        </p:nvSpPr>
        <p:spPr bwMode="auto">
          <a:xfrm>
            <a:off x="838199" y="860770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Scalability in Spotify</a:t>
            </a:r>
            <a:endParaRPr/>
          </a:p>
        </p:txBody>
      </p:sp>
      <p:sp>
        <p:nvSpPr>
          <p:cNvPr id="170837427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3713507"/>
            <a:ext cx="10515600" cy="2141054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Handles millions of users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Auto scaling during peak traffic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Load balancing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Distributed servers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02143" name="Title 1"/>
          <p:cNvSpPr>
            <a:spLocks noGrp="1"/>
          </p:cNvSpPr>
          <p:nvPr>
            <p:ph type="title"/>
          </p:nvPr>
        </p:nvSpPr>
        <p:spPr bwMode="auto">
          <a:xfrm>
            <a:off x="838199" y="819357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Performance Handling</a:t>
            </a:r>
            <a:endParaRPr/>
          </a:p>
        </p:txBody>
      </p:sp>
      <p:sp>
        <p:nvSpPr>
          <p:cNvPr id="24074539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3672094"/>
            <a:ext cx="10515600" cy="1980785"/>
          </a:xfrm>
        </p:spPr>
        <p:txBody>
          <a:bodyPr/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Fast music buffering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Low latency streaming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Global server distribution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Caching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938" name="Title 1"/>
          <p:cNvSpPr>
            <a:spLocks noGrp="1"/>
          </p:cNvSpPr>
          <p:nvPr>
            <p:ph type="title"/>
          </p:nvPr>
        </p:nvSpPr>
        <p:spPr bwMode="auto">
          <a:xfrm>
            <a:off x="838199" y="798650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Data Storage &amp; Management</a:t>
            </a:r>
            <a:endParaRPr/>
          </a:p>
        </p:txBody>
      </p:sp>
      <p:sp>
        <p:nvSpPr>
          <p:cNvPr id="81495685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651387"/>
            <a:ext cx="10515600" cy="2031170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Songs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Playlists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User accounts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Listening history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610686" name="Title 1"/>
          <p:cNvSpPr>
            <a:spLocks noGrp="1"/>
          </p:cNvSpPr>
          <p:nvPr>
            <p:ph type="title"/>
          </p:nvPr>
        </p:nvSpPr>
        <p:spPr bwMode="auto">
          <a:xfrm>
            <a:off x="831848" y="860770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Security Considerations</a:t>
            </a:r>
            <a:endParaRPr/>
          </a:p>
        </p:txBody>
      </p:sp>
      <p:sp>
        <p:nvSpPr>
          <p:cNvPr id="5496991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713507"/>
            <a:ext cx="10515600" cy="2146438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User authentication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Encrypted communication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Data privacy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Secure payment handling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996580" name="Title 1"/>
          <p:cNvSpPr>
            <a:spLocks noGrp="1"/>
          </p:cNvSpPr>
          <p:nvPr>
            <p:ph type="title"/>
          </p:nvPr>
        </p:nvSpPr>
        <p:spPr bwMode="auto">
          <a:xfrm>
            <a:off x="831848" y="819357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Real-World Traffic Example</a:t>
            </a:r>
            <a:endParaRPr/>
          </a:p>
        </p:txBody>
      </p:sp>
      <p:sp>
        <p:nvSpPr>
          <p:cNvPr id="40407402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672094"/>
            <a:ext cx="10515600" cy="2146438"/>
          </a:xfrm>
        </p:spPr>
        <p:txBody>
          <a:bodyPr vertOverflow="overflow" horzOverflow="overflow" vert="horz" wrap="square" lIns="182880" tIns="182880" rIns="182880" bIns="91440" numCol="2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/>
              <a:t>Example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Sudden increase after album release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Millions streaming simultaneously</a:t>
            </a:r>
            <a:endParaRPr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cloud helps:</a:t>
            </a:r>
            <a:endParaRPr lang="en-US" sz="24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72864" indent="-272864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Auto scaling</a:t>
            </a:r>
            <a:endParaRPr sz="2400"/>
          </a:p>
          <a:p>
            <a:pPr marL="272864" indent="-272864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Distributed systems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CDN support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749305" name="Title 1"/>
          <p:cNvSpPr>
            <a:spLocks noGrp="1"/>
          </p:cNvSpPr>
          <p:nvPr>
            <p:ph type="title"/>
          </p:nvPr>
        </p:nvSpPr>
        <p:spPr bwMode="auto">
          <a:xfrm>
            <a:off x="831848" y="881476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Challenges &amp; Limitations</a:t>
            </a:r>
            <a:endParaRPr/>
          </a:p>
        </p:txBody>
      </p:sp>
      <p:sp>
        <p:nvSpPr>
          <p:cNvPr id="166320822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734213"/>
            <a:ext cx="10515600" cy="2001492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High cloud infrastructure cost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Network dependency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Data privacy risks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Server downtime risks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195792" name="Title 1"/>
          <p:cNvSpPr>
            <a:spLocks noGrp="1"/>
          </p:cNvSpPr>
          <p:nvPr>
            <p:ph type="title"/>
          </p:nvPr>
        </p:nvSpPr>
        <p:spPr bwMode="auto">
          <a:xfrm>
            <a:off x="831848" y="902183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Future</a:t>
            </a:r>
            <a:r>
              <a:rPr/>
              <a:t> &amp; Improvements</a:t>
            </a:r>
            <a:endParaRPr/>
          </a:p>
        </p:txBody>
      </p:sp>
      <p:sp>
        <p:nvSpPr>
          <p:cNvPr id="91790510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428999"/>
            <a:ext cx="10515600" cy="2389532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/>
              <a:t>Possible improvements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Better AI recommendations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Faster streaming optimization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Improved security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Smarter cloud automation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251" name="Title 1"/>
          <p:cNvSpPr>
            <a:spLocks noGrp="1"/>
          </p:cNvSpPr>
          <p:nvPr>
            <p:ph type="title"/>
          </p:nvPr>
        </p:nvSpPr>
        <p:spPr bwMode="auto">
          <a:xfrm>
            <a:off x="831848" y="819357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Benefits of Cloud in Spotify</a:t>
            </a:r>
            <a:endParaRPr/>
          </a:p>
        </p:txBody>
      </p:sp>
      <p:sp>
        <p:nvSpPr>
          <p:cNvPr id="169520364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3292336"/>
            <a:ext cx="10515600" cy="2484782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Global access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Scalability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Reliability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Fast streaming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Easy maintenance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49924" name="Title 1"/>
          <p:cNvSpPr>
            <a:spLocks noGrp="1"/>
          </p:cNvSpPr>
          <p:nvPr>
            <p:ph type="title"/>
          </p:nvPr>
        </p:nvSpPr>
        <p:spPr bwMode="auto">
          <a:xfrm>
            <a:off x="831848" y="840063"/>
            <a:ext cx="10515600" cy="2852736"/>
          </a:xfrm>
        </p:spPr>
        <p:txBody>
          <a:bodyPr/>
          <a:lstStyle/>
          <a:p>
            <a:pPr algn="l">
              <a:defRPr/>
            </a:pPr>
            <a:r>
              <a:rPr/>
              <a:t>Conclusion</a:t>
            </a:r>
            <a:endParaRPr/>
          </a:p>
        </p:txBody>
      </p:sp>
      <p:sp>
        <p:nvSpPr>
          <p:cNvPr id="15924052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3692800"/>
            <a:ext cx="10515600" cy="1500186"/>
          </a:xfrm>
        </p:spPr>
        <p:txBody>
          <a:bodyPr/>
          <a:lstStyle/>
          <a:p>
            <a:pPr marL="349965" indent="-349965" algn="l">
              <a:buFont typeface="Arial"/>
              <a:buChar char="•"/>
              <a:defRPr/>
            </a:pPr>
            <a:r>
              <a:rPr/>
              <a:t>Cloud computing is essential for Spotify</a:t>
            </a:r>
            <a:endParaRPr/>
          </a:p>
          <a:p>
            <a:pPr marL="349965" indent="-349965" algn="l">
              <a:buFont typeface="Arial"/>
              <a:buChar char="•"/>
              <a:defRPr/>
            </a:pPr>
            <a:r>
              <a:rPr/>
              <a:t>Enables global music streaming efficiently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2026-05-24T11:00:24Z</dcterms:modified>
</cp:coreProperties>
</file>